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43400" cy="6858000"/>
          </a:xfrm>
          <a:prstGeom prst="rect">
            <a:avLst/>
          </a:prstGeom>
          <a:solidFill>
            <a:srgbClr val="2A2021"/>
          </a:solidFill>
          <a:ln/>
        </p:spPr>
      </p:sp>
      <p:pic>
        <p:nvPicPr>
          <p:cNvPr id="3" name="Image 0" descr="C:/Users/cooki/.gemini/antigravity/scratch/IWTIW Landing Pages/iwill-hoppervets-landing/public/images/Hero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0"/>
            <a:ext cx="4343400" cy="6858000"/>
          </a:xfrm>
          <a:prstGeom prst="rect">
            <a:avLst/>
          </a:prstGeom>
        </p:spPr>
      </p:pic>
      <p:pic>
        <p:nvPicPr>
          <p:cNvPr id="4" name="Image 1" descr="C:/Users/cooki/.gemini/antigravity/scratch/IWTIW Landing Pages/iwill-hoppervets-landing/public/images/hoppervets-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640080"/>
            <a:ext cx="2377440" cy="6309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19659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Member Healthcare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28803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DDC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independent vets &amp; techs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3840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7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 pricing on virtual medical and behavioral care — unlocked through your HopperVets membership, in partnership with iWILL 'til I'm Well.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5029200"/>
            <a:ext cx="4480560" cy="658368"/>
          </a:xfrm>
          <a:prstGeom prst="roundRect">
            <a:avLst>
              <a:gd name="adj" fmla="val 13889"/>
            </a:avLst>
          </a:prstGeom>
          <a:solidFill>
            <a:srgbClr val="6D41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D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  </a:t>
            </a:r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HEATHHOPP1</a:t>
            </a:r>
            <a:endParaRPr lang="en-US" sz="1100" dirty="0"/>
          </a:p>
        </p:txBody>
      </p:sp>
      <p:pic>
        <p:nvPicPr>
          <p:cNvPr id="9" name="Image 2" descr="C:/Users/cooki/.gemini/antigravity/scratch/IWTIW Landing Pages/iwill-hoppervets-landing/public/images/IWTIW_Banner_log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6217920"/>
            <a:ext cx="9144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6D41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05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cover your own care. That shouldn't cost a fortune.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independent contractor, there's no employer plan behind you — so affordable, quality healthcare can feel out of reach. HopperVets changes that by bringing the group together.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AF5EF"/>
          </a:solidFill>
          <a:ln w="12700">
            <a:solidFill>
              <a:srgbClr val="F2DD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383280"/>
            <a:ext cx="566928" cy="566928"/>
          </a:xfrm>
          <a:prstGeom prst="ellipse">
            <a:avLst/>
          </a:prstGeom>
          <a:solidFill>
            <a:srgbClr val="F2DDC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employer plan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617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contractors shoulder 100% of their own healthcare costs and decisions.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0832" y="306324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AF5EF"/>
          </a:solidFill>
          <a:ln w="12700">
            <a:solidFill>
              <a:srgbClr val="F2DD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3383280"/>
            <a:ext cx="566928" cy="566928"/>
          </a:xfrm>
          <a:prstGeom prst="ellipse">
            <a:avLst/>
          </a:prstGeom>
          <a:solidFill>
            <a:srgbClr val="F2DDC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90872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Priced out alone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4617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rates are steep — a single person can't negotiate group pricing.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55864" y="306324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AF5EF"/>
          </a:solidFill>
          <a:ln w="12700">
            <a:solidFill>
              <a:srgbClr val="F2DD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3383280"/>
            <a:ext cx="566928" cy="566928"/>
          </a:xfrm>
          <a:prstGeom prst="ellipse">
            <a:avLst/>
          </a:prstGeom>
          <a:solidFill>
            <a:srgbClr val="F2DDC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75904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Care that waits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46177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care, refills, and therapy are slow and expensive without coverage.</a:t>
            </a:r>
            <a:endParaRPr lang="en-US" sz="1400" dirty="0"/>
          </a:p>
        </p:txBody>
      </p:sp>
      <p:pic>
        <p:nvPicPr>
          <p:cNvPr id="20" name="Image 0" descr="C:/Users/cooki/.gemini/antigravity/scratch/IWTIW Landing Pages/iwill-hoppervets-landing/public/images/hoppervet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291072"/>
            <a:ext cx="896112" cy="23774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29600" y="6254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iWILL 'til I'm Well  ×  HopperVets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2544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6D41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Healthcare built for independent vets &amp; techs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of care at negotiated HopperVets member pricing — covering you and your household.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7D0C4"/>
            </a:solidFill>
            <a:prstDash val="solid"/>
          </a:ln>
          <a:effectLst>
            <a:outerShdw sx="100000" sy="100000" kx="0" ky="0" algn="bl" rotWithShape="0" blurRad="101600" dist="38100" dir="5400000">
              <a:srgbClr val="3D2F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834640"/>
            <a:ext cx="640080" cy="640080"/>
          </a:xfrm>
          <a:prstGeom prst="ellipse">
            <a:avLst/>
          </a:prstGeom>
          <a:solidFill>
            <a:srgbClr val="3D2F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D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Virtual Medical Care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virtual visits for urgent care, primary care, and chronic conditions — for you and every family member.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349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D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prescription or care plan in minutes, not hours.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07992" y="25146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7D0C4"/>
            </a:solidFill>
            <a:prstDash val="solid"/>
          </a:ln>
          <a:effectLst>
            <a:outerShdw sx="100000" sy="100000" kx="0" ky="0" algn="bl" rotWithShape="0" blurRad="101600" dist="38100" dir="5400000">
              <a:srgbClr val="3D2F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3752" y="2834640"/>
            <a:ext cx="640080" cy="640080"/>
          </a:xfrm>
          <a:prstGeom prst="ellipse">
            <a:avLst/>
          </a:prstGeom>
          <a:solidFill>
            <a:srgbClr val="3D2F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73752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D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Behavioral Health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therapists for anxiety, depression, burnout, and stress — the realities of independent practice, on your schedule.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5349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D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session this week, not next month.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30184" y="251460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7D0C4"/>
            </a:solidFill>
            <a:prstDash val="solid"/>
          </a:ln>
          <a:effectLst>
            <a:outerShdw sx="100000" sy="100000" kx="0" ky="0" algn="bl" rotWithShape="0" blurRad="101600" dist="38100" dir="5400000">
              <a:srgbClr val="3D2F3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95944" y="2834640"/>
            <a:ext cx="640080" cy="640080"/>
          </a:xfrm>
          <a:prstGeom prst="ellipse">
            <a:avLst/>
          </a:prstGeom>
          <a:solidFill>
            <a:srgbClr val="3D2F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95944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D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695944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Negotiated Member Rates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695944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 solo contractor could never get alone — because HopperVets brings the group, with no employer plan required.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695944" y="5349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D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your rate with code HEATHHOPP1.</a:t>
            </a:r>
            <a:endParaRPr lang="en-US" sz="1300" dirty="0"/>
          </a:p>
        </p:txBody>
      </p:sp>
      <p:pic>
        <p:nvPicPr>
          <p:cNvPr id="23" name="Image 0" descr="C:/Users/cooki/.gemini/antigravity/scratch/IWTIW Landing Pages/iwill-hoppervets-landing/public/images/hoppervet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291072"/>
            <a:ext cx="896112" cy="2377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229600" y="6254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iWILL 'til I'm Well  ×  HopperVets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2544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2D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HopperVets promo code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2423160" y="2286000"/>
            <a:ext cx="7315200" cy="1737360"/>
          </a:xfrm>
          <a:prstGeom prst="roundRect">
            <a:avLst>
              <a:gd name="adj" fmla="val 7368"/>
            </a:avLst>
          </a:prstGeom>
          <a:solidFill>
            <a:srgbClr val="2A2021"/>
          </a:solidFill>
          <a:ln w="31750">
            <a:solidFill>
              <a:srgbClr val="FF551D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spc="60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HEATHHOPP1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4297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7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in the sign-up form or at checkout to unlock your negotiated member pricing — applied automatically when you submit your details on the landing page.</a:t>
            </a:r>
            <a:endParaRPr lang="en-US" sz="1600" dirty="0"/>
          </a:p>
        </p:txBody>
      </p:sp>
      <p:pic>
        <p:nvPicPr>
          <p:cNvPr id="5" name="Image 0" descr="C:/Users/cooki/.gemini/antigravity/scratch/IWTIW Landing Pages/iwill-hoppervets-landing/public/images/hoppervet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291072"/>
            <a:ext cx="896112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6254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iWILL 'til I'm Well  ×  HopperVets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75720" y="62544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6D41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PRICING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negotiated member rates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pricing shown. No hidden fees, no contracts, cancel anytime.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AF5EF"/>
          </a:solidFill>
          <a:ln w="12700">
            <a:solidFill>
              <a:srgbClr val="E7D0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Basic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</a:t>
            </a:r>
            <a:pPr algn="ctr" indent="0" marL="0">
              <a:buNone/>
            </a:pPr>
            <a:r>
              <a:rPr lang="en-US" sz="52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35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urgent care + message a specialist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66160" y="23317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AF5EF"/>
          </a:solidFill>
          <a:ln w="12700">
            <a:solidFill>
              <a:srgbClr val="E7D0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089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</a:t>
            </a:r>
            <a:pPr algn="ctr" indent="0" marL="0">
              <a:buNone/>
            </a:pPr>
            <a:r>
              <a:rPr lang="en-US" sz="52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4389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+ behavioral health care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3317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3D2F30"/>
          </a:solidFill>
          <a:ln w="12700">
            <a:solidFill>
              <a:srgbClr val="3D2F30"/>
            </a:solidFill>
            <a:prstDash val="solid"/>
          </a:ln>
          <a:effectLst>
            <a:outerShdw sx="100000" sy="100000" kx="0" ky="0" algn="bl" rotWithShape="0" blurRad="127000" dist="50800" dir="5400000">
              <a:srgbClr val="3D2F30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49440" y="2130552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FF55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Plus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1089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DDC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</a:t>
            </a:r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389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D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advanced behavioral health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26880" y="233172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FAF5EF"/>
          </a:solidFill>
          <a:ln w="12700">
            <a:solidFill>
              <a:srgbClr val="E7D0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Premium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1089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</a:t>
            </a:r>
            <a:pPr algn="ctr" indent="0" marL="0">
              <a:buNone/>
            </a:pPr>
            <a:r>
              <a:rPr lang="en-US" sz="52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4023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43891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+ virtual primary care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 as Self + Family.  </a:t>
            </a:r>
            <a:pPr algn="ctr" indent="0" marL="0">
              <a:buNone/>
            </a:pPr>
            <a:r>
              <a:rPr lang="en-US" sz="1300" b="1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code HEATHHOPP1 at checkout.</a:t>
            </a:r>
            <a:endParaRPr lang="en-US" sz="1300" dirty="0"/>
          </a:p>
        </p:txBody>
      </p:sp>
      <p:pic>
        <p:nvPicPr>
          <p:cNvPr id="27" name="Image 0" descr="C:/Users/cooki/.gemini/antigravity/scratch/IWTIW Landing Pages/iwill-hoppervets-landing/public/images/hoppervet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291072"/>
            <a:ext cx="896112" cy="237744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8229600" y="6254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iWILL 'til I'm Well  ×  HopperVets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475720" y="62544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DD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7D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182880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800" i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 an independent contractor, affordable healthcare always felt out of reach. Through my HopperVets membership I finally have real coverage for me and my family — at a rate I could never have gotten on my own.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4572000"/>
            <a:ext cx="685800" cy="685800"/>
          </a:xfrm>
          <a:prstGeom prst="ellipse">
            <a:avLst/>
          </a:prstGeom>
          <a:solidFill>
            <a:srgbClr val="3D2F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4572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D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4617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3D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Lee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Relief Veterinarian · HopperVets member</a:t>
            </a:r>
            <a:endParaRPr lang="en-US" sz="1700" dirty="0"/>
          </a:p>
        </p:txBody>
      </p:sp>
      <p:pic>
        <p:nvPicPr>
          <p:cNvPr id="7" name="Image 0" descr="C:/Users/cooki/.gemini/antigravity/scratch/IWTIW Landing Pages/iwill-hoppervets-landing/public/images/hoppervet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291072"/>
            <a:ext cx="896112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0" y="6254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iWILL 'til I'm Well  ×  HopperVets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2544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737360" cy="347472"/>
          </a:xfrm>
          <a:prstGeom prst="roundRect">
            <a:avLst>
              <a:gd name="adj" fmla="val 31579"/>
            </a:avLst>
          </a:prstGeom>
          <a:solidFill>
            <a:srgbClr val="6D41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Questions, answered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AF5EF"/>
          </a:solidFill>
          <a:ln w="12700">
            <a:solidFill>
              <a:srgbClr val="F2DD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3D2F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DDC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084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is this membership for?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6060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for HopperVets members — independent-contractor vets and vet techs who cover their own care and want group-negotiated rates.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AF5EF"/>
          </a:solidFill>
          <a:ln w="12700">
            <a:solidFill>
              <a:srgbClr val="F2DD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103120"/>
            <a:ext cx="457200" cy="457200"/>
          </a:xfrm>
          <a:prstGeom prst="ellipse">
            <a:avLst/>
          </a:prstGeom>
          <a:solidFill>
            <a:srgbClr val="3D2F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DDC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much does it cost?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6060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plans run $35–$60/month. No hidden fees, no contracts, cancel anytime. Premium adds Virtual Primary Care ($25 PCP co-pay).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AF5EF"/>
          </a:solidFill>
          <a:ln w="12700">
            <a:solidFill>
              <a:srgbClr val="F2DD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3D2F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DDC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096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do I use my promo code?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6177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details on the landing page and HEATHHOPP1 is applied automatically, locking in your negotiated member rate from the start.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166360" cy="1783080"/>
          </a:xfrm>
          <a:prstGeom prst="roundRect">
            <a:avLst>
              <a:gd name="adj" fmla="val 5128"/>
            </a:avLst>
          </a:prstGeom>
          <a:solidFill>
            <a:srgbClr val="FAF5EF"/>
          </a:solidFill>
          <a:ln w="12700">
            <a:solidFill>
              <a:srgbClr val="F2DD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114800"/>
            <a:ext cx="457200" cy="457200"/>
          </a:xfrm>
          <a:prstGeom prst="ellipse">
            <a:avLst/>
          </a:prstGeom>
          <a:solidFill>
            <a:srgbClr val="3D2F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DDC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096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have some coverage already — why this?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6177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complements what you have: low-cost virtual urgent care, refills, and behavioral health for you and your family, on your schedule.</a:t>
            </a:r>
            <a:endParaRPr lang="en-US" sz="1200" dirty="0"/>
          </a:p>
        </p:txBody>
      </p:sp>
      <p:pic>
        <p:nvPicPr>
          <p:cNvPr id="20" name="Image 0" descr="C:/Users/cooki/.gemini/antigravity/scratch/IWTIW Landing Pages/iwill-hoppervets-landing/public/images/hoppervet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291072"/>
            <a:ext cx="896112" cy="23774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29600" y="6254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iWILL 'til I'm Well  ×  HopperVets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475720" y="62544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ooki/.gemini/antigravity/scratch/IWTIW Landing Pages/iwill-hoppervets-landing/public/images/hoppervet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685800"/>
            <a:ext cx="2103120" cy="5577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 your member rate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2834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E7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name and email on the landing page — your promo code is applied automatically — and we'll follow up to activate your pricing.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51960"/>
            <a:ext cx="457200" cy="457200"/>
          </a:xfrm>
          <a:prstGeom prst="ellipse">
            <a:avLst/>
          </a:prstGeom>
          <a:solidFill>
            <a:srgbClr val="FF55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4270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name &amp; email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910328"/>
            <a:ext cx="457200" cy="457200"/>
          </a:xfrm>
          <a:prstGeom prst="ellipse">
            <a:avLst/>
          </a:prstGeom>
          <a:solidFill>
            <a:srgbClr val="FF55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49286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HEATHHOPP1 auto-applies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568696"/>
            <a:ext cx="457200" cy="457200"/>
          </a:xfrm>
          <a:prstGeom prst="ellipse">
            <a:avLst/>
          </a:prstGeom>
          <a:solidFill>
            <a:srgbClr val="FF55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55869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activate your member rate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909560" y="1463040"/>
            <a:ext cx="3337560" cy="434340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63500" dir="5400000">
              <a:srgbClr val="2A2021">
                <a:alpha val="4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 member pricing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21945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0" y="2414016"/>
            <a:ext cx="2697480" cy="347472"/>
          </a:xfrm>
          <a:prstGeom prst="roundRect">
            <a:avLst>
              <a:gd name="adj" fmla="val 15789"/>
            </a:avLst>
          </a:prstGeom>
          <a:solidFill>
            <a:srgbClr val="FAF5EF"/>
          </a:solidFill>
          <a:ln w="12700">
            <a:solidFill>
              <a:srgbClr val="E7D0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0" y="28529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3072384"/>
            <a:ext cx="2697480" cy="347472"/>
          </a:xfrm>
          <a:prstGeom prst="roundRect">
            <a:avLst>
              <a:gd name="adj" fmla="val 15789"/>
            </a:avLst>
          </a:prstGeom>
          <a:solidFill>
            <a:srgbClr val="FAF5EF"/>
          </a:solidFill>
          <a:ln w="12700">
            <a:solidFill>
              <a:srgbClr val="E7D0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35112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0" y="3730752"/>
            <a:ext cx="2697480" cy="347472"/>
          </a:xfrm>
          <a:prstGeom prst="roundRect">
            <a:avLst>
              <a:gd name="adj" fmla="val 15789"/>
            </a:avLst>
          </a:prstGeom>
          <a:solidFill>
            <a:srgbClr val="FAF5EF"/>
          </a:solidFill>
          <a:ln w="12700">
            <a:solidFill>
              <a:srgbClr val="E7D0C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41696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389120"/>
            <a:ext cx="2697480" cy="347472"/>
          </a:xfrm>
          <a:prstGeom prst="roundRect">
            <a:avLst>
              <a:gd name="adj" fmla="val 15789"/>
            </a:avLst>
          </a:prstGeom>
          <a:solidFill>
            <a:srgbClr val="F2DDC6"/>
          </a:solidFill>
          <a:ln w="12700">
            <a:solidFill>
              <a:srgbClr val="6D414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D2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HEATHHOPP1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88289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6D41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My Member Rate</a:t>
            </a:r>
            <a:endParaRPr lang="en-US" sz="1300" dirty="0"/>
          </a:p>
        </p:txBody>
      </p:sp>
      <p:pic>
        <p:nvPicPr>
          <p:cNvPr id="22" name="Image 1" descr="C:/Users/cooki/.gemini/antigravity/scratch/IWTIW Landing Pages/iwill-hoppervets-landing/public/images/IWTIW_Banner_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6217920"/>
            <a:ext cx="914400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pperVets">
  <a:themeElements>
    <a:clrScheme name="HopperVets">
      <a:dk1>
        <a:srgbClr val="3D2F30"/>
      </a:dk1>
      <a:lt1>
        <a:srgbClr val="FFFFFF"/>
      </a:lt1>
      <a:dk2>
        <a:srgbClr val="2A2021"/>
      </a:dk2>
      <a:lt2>
        <a:srgbClr val="FAF5EF"/>
      </a:lt2>
      <a:accent1>
        <a:srgbClr val="6D4142"/>
      </a:accent1>
      <a:accent2>
        <a:srgbClr val="FF551D"/>
      </a:accent2>
      <a:accent3>
        <a:srgbClr val="F2DDC6"/>
      </a:accent3>
      <a:accent4>
        <a:srgbClr val="E7D0C4"/>
      </a:accent4>
      <a:accent5>
        <a:srgbClr val="6B5E5A"/>
      </a:accent5>
      <a:accent6>
        <a:srgbClr val="2A2021"/>
      </a:accent6>
      <a:hlink>
        <a:srgbClr val="6D4142"/>
      </a:hlink>
      <a:folHlink>
        <a:srgbClr val="6D4142"/>
      </a:folHlink>
    </a:clrScheme>
    <a:fontScheme name="HopperVets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HopperVets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HopperVets</dc:creator>
  <cp:lastModifiedBy>HopperVets</cp:lastModifiedBy>
  <cp:revision>1</cp:revision>
  <dcterms:created xsi:type="dcterms:W3CDTF">2026-10-09T21:10:51Z</dcterms:created>
  <dcterms:modified xsi:type="dcterms:W3CDTF">2026-10-09T21:10:51Z</dcterms:modified>
</cp:coreProperties>
</file>